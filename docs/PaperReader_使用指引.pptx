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17d4655074a94" /><Relationship Type="http://schemas.openxmlformats.org/officeDocument/2006/relationships/extended-properties" Target="/docProps/app.xml" Id="R5c4b8be5faa24336" /><Relationship Type="http://schemas.openxmlformats.org/officeDocument/2006/relationships/officeDocument" Target="/ppt/presentation.xml" Id="Rcc6d017fec72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c380b632240ca"/>
  </p:sldMasterIdLst>
  <p:notesMasterIdLst>
    <p:notesMasterId xmlns:r="http://schemas.openxmlformats.org/officeDocument/2006/relationships" r:id="R3fa57cff972144ee"/>
  </p:notesMasterIdLst>
  <p:sldIdLst>
    <p:sldId xmlns:r="http://schemas.openxmlformats.org/officeDocument/2006/relationships" id="256" r:id="R530c0ef5e6864bbf"/>
    <p:sldId xmlns:r="http://schemas.openxmlformats.org/officeDocument/2006/relationships" id="257" r:id="R3c8746797cb947fa"/>
    <p:sldId xmlns:r="http://schemas.openxmlformats.org/officeDocument/2006/relationships" id="258" r:id="Ra36a28aeb99b4308"/>
    <p:sldId xmlns:r="http://schemas.openxmlformats.org/officeDocument/2006/relationships" id="259" r:id="Rcbc68d211bde421b"/>
    <p:sldId xmlns:r="http://schemas.openxmlformats.org/officeDocument/2006/relationships" id="260" r:id="R96caae2c4258469b"/>
    <p:sldId xmlns:r="http://schemas.openxmlformats.org/officeDocument/2006/relationships" id="261" r:id="Rdd130b177f8e4033"/>
    <p:sldId xmlns:r="http://schemas.openxmlformats.org/officeDocument/2006/relationships" id="262" r:id="R7e92400465304b10"/>
    <p:sldId xmlns:r="http://schemas.openxmlformats.org/officeDocument/2006/relationships" id="263" r:id="R035a63a08c524e44"/>
    <p:sldId xmlns:r="http://schemas.openxmlformats.org/officeDocument/2006/relationships" id="264" r:id="R77cf9c2d1fcd4927"/>
    <p:sldId xmlns:r="http://schemas.openxmlformats.org/officeDocument/2006/relationships" id="265" r:id="R189c42a7fde947fb"/>
    <p:sldId xmlns:r="http://schemas.openxmlformats.org/officeDocument/2006/relationships" id="266" r:id="R364908a1ceee4871"/>
    <p:sldId xmlns:r="http://schemas.openxmlformats.org/officeDocument/2006/relationships" id="267" r:id="R04a36f0b32e14b8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dbed3736f43ce" /><Relationship Type="http://schemas.openxmlformats.org/officeDocument/2006/relationships/slideMaster" Target="/ppt/slideMasters/slideMaster1.xml" Id="R92ec380b632240ca" /><Relationship Type="http://schemas.openxmlformats.org/officeDocument/2006/relationships/notesMaster" Target="/ppt/notesMasters/notesMaster1.xml" Id="R3fa57cff972144ee" /><Relationship Type="http://schemas.openxmlformats.org/officeDocument/2006/relationships/presProps" Target="/ppt/presProps.xml" Id="R66480029476844e3" /><Relationship Type="http://schemas.openxmlformats.org/officeDocument/2006/relationships/tableStyles" Target="/ppt/tableStyles.xml" Id="Re1bc681f79794ae5" /><Relationship Type="http://schemas.openxmlformats.org/officeDocument/2006/relationships/slide" Target="/ppt/slides/slide1.xml" Id="R530c0ef5e6864bbf" /><Relationship Type="http://schemas.openxmlformats.org/officeDocument/2006/relationships/slide" Target="/ppt/slides/slide2.xml" Id="R3c8746797cb947fa" /><Relationship Type="http://schemas.openxmlformats.org/officeDocument/2006/relationships/slide" Target="/ppt/slides/slide3.xml" Id="Ra36a28aeb99b4308" /><Relationship Type="http://schemas.openxmlformats.org/officeDocument/2006/relationships/slide" Target="/ppt/slides/slide4.xml" Id="Rcbc68d211bde421b" /><Relationship Type="http://schemas.openxmlformats.org/officeDocument/2006/relationships/slide" Target="/ppt/slides/slide5.xml" Id="R96caae2c4258469b" /><Relationship Type="http://schemas.openxmlformats.org/officeDocument/2006/relationships/slide" Target="/ppt/slides/slide6.xml" Id="Rdd130b177f8e4033" /><Relationship Type="http://schemas.openxmlformats.org/officeDocument/2006/relationships/slide" Target="/ppt/slides/slide7.xml" Id="R7e92400465304b10" /><Relationship Type="http://schemas.openxmlformats.org/officeDocument/2006/relationships/slide" Target="/ppt/slides/slide8.xml" Id="R035a63a08c524e44" /><Relationship Type="http://schemas.openxmlformats.org/officeDocument/2006/relationships/slide" Target="/ppt/slides/slide9.xml" Id="R77cf9c2d1fcd4927" /><Relationship Type="http://schemas.openxmlformats.org/officeDocument/2006/relationships/slide" Target="/ppt/slides/slide10.xml" Id="R189c42a7fde947fb" /><Relationship Type="http://schemas.openxmlformats.org/officeDocument/2006/relationships/slide" Target="/ppt/slides/slide11.xml" Id="R364908a1ceee4871" /><Relationship Type="http://schemas.openxmlformats.org/officeDocument/2006/relationships/slide" Target="/ppt/slides/slide12.xml" Id="R04a36f0b32e1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1f7a1888f2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bcee7317b4fe5" /><Relationship Type="http://schemas.openxmlformats.org/officeDocument/2006/relationships/notesMaster" Target="/ppt/notesMasters/notesMaster1.xml" Id="R0188c9b8709143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d6e2ac7e14057" /><Relationship Type="http://schemas.openxmlformats.org/officeDocument/2006/relationships/notesMaster" Target="/ppt/notesMasters/notesMaster1.xml" Id="R65bd0c8d15084b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d26199e184049" /><Relationship Type="http://schemas.openxmlformats.org/officeDocument/2006/relationships/notesMaster" Target="/ppt/notesMasters/notesMaster1.xml" Id="R51ad135035854b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2807f0ede24b59" /><Relationship Type="http://schemas.openxmlformats.org/officeDocument/2006/relationships/notesMaster" Target="/ppt/notesMasters/notesMaster1.xml" Id="Re4f20ae8c8d141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3a530ce114e87" /><Relationship Type="http://schemas.openxmlformats.org/officeDocument/2006/relationships/notesMaster" Target="/ppt/notesMasters/notesMaster1.xml" Id="Rc4da0ae942f44c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3d00ce0524fbd" /><Relationship Type="http://schemas.openxmlformats.org/officeDocument/2006/relationships/notesMaster" Target="/ppt/notesMasters/notesMaster1.xml" Id="R11f90dc6866b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8b454c8a64b6c" /><Relationship Type="http://schemas.openxmlformats.org/officeDocument/2006/relationships/notesMaster" Target="/ppt/notesMasters/notesMaster1.xml" Id="Ra6059d1b79d2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734d57c7cb46f5" /><Relationship Type="http://schemas.openxmlformats.org/officeDocument/2006/relationships/notesMaster" Target="/ppt/notesMasters/notesMaster1.xml" Id="Rd1c7237bef80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2ddd26b11d44c3" /><Relationship Type="http://schemas.openxmlformats.org/officeDocument/2006/relationships/notesMaster" Target="/ppt/notesMasters/notesMaster1.xml" Id="Rec33b8306583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fbb1a9572b4979" /><Relationship Type="http://schemas.openxmlformats.org/officeDocument/2006/relationships/notesMaster" Target="/ppt/notesMasters/notesMaster1.xml" Id="R3095adb1ff4a4c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7c51467cbb471b" /><Relationship Type="http://schemas.openxmlformats.org/officeDocument/2006/relationships/notesMaster" Target="/ppt/notesMasters/notesMaster1.xml" Id="Rce89c701ac7a4f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68257c28414523" /><Relationship Type="http://schemas.openxmlformats.org/officeDocument/2006/relationships/notesMaster" Target="/ppt/notesMasters/notesMaster1.xml" Id="R12b1a915b30d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線上網站：https://educatres.github.io/PaperReader/。本指引使用內建的原創教學 PDF。實作依據為 97c5833。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來源：src/App.tsx、src/components/PdfViewer.tsx、01-overview.png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來源：src/components/PdfViewer.tsx、src/components/NoteNode.tsx、02-highlight.png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來源：src/components/ScreenshotSelection.tsx、src/components/NoteNode.tsx、src/lib/noteText.ts、03-screenshot-note.png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來源：src/components/ResearchCanvas.tsx、04-relationship.png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來源：src/components/Settings.tsx、src/lib/ai.ts、05-gemini.png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來源：README.md CGU 連線、public/PaperReader-CGU-Bridge.mjs、06-cgu.png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來源：src/components/NoteNode.tsx、src/lib/ai.ts、07-note-ai.png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來源：src/components/GroupSummaryDialog.tsx、src/lib/groupSummary.ts、08-group-preview.png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來源：src/components/NoteNode.tsx、src/lib/groupSummary.ts、09-group-result.png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來源：src/App.tsx、src/lib/transfer.ts、10-export.png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操作說明，依 97c5833 版本。</a:t>
            </a:r>
          </a:p>
          <a:p xmlns:a="http://schemas.openxmlformats.org/drawingml/2006/main">
            <a:r>
              <a:t>來源：src/App.tsx、src/lib/db.ts、README.md 隱私與本機儲存、11-restore.png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1623b5ebb4d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ef0ccecd248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be9dbe12f49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2efcb140e4e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ca9b5d83c42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b2d29eb29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BD6D9-2ADB-4DB0-BDF4-E17BE9219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335AD2-BF46-43EB-B01A-76CB524F7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F30C16-004F-4D14-9A1F-2C318B4EE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DC01E8-C724-4C8C-9DD7-651DA0B37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902B49-8537-4913-8FBD-CAFBB6D09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55AC80-5FF3-437E-B360-1C24FAA2D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34A1FC-E2BA-4209-8983-92F747B88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32D43B-6B1D-4F8D-B724-7C7EA3A3CE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037A49-8FE6-453B-A676-ED1F82BE3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561161-9633-4025-A176-4BDE730AF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c8e814e0db45fd" /><Relationship Type="http://schemas.openxmlformats.org/officeDocument/2006/relationships/slideLayout" Target="/ppt/slideLayouts/slideLayout1.xml" Id="R1ef88810f9c846b8" /><Relationship Type="http://schemas.openxmlformats.org/officeDocument/2006/relationships/slideLayout" Target="/ppt/slideLayouts/slideLayout2.xml" Id="R85632f2b19cf49d4" /><Relationship Type="http://schemas.openxmlformats.org/officeDocument/2006/relationships/slideLayout" Target="/ppt/slideLayouts/slideLayout3.xml" Id="Re24149b4ff344b4e" /><Relationship Type="http://schemas.openxmlformats.org/officeDocument/2006/relationships/slideLayout" Target="/ppt/slideLayouts/slideLayout4.xml" Id="R9ceb3900b0604f22" /><Relationship Type="http://schemas.openxmlformats.org/officeDocument/2006/relationships/slideLayout" Target="/ppt/slideLayouts/slideLayout5.xml" Id="R0650c660aa17441c" /><Relationship Type="http://schemas.openxmlformats.org/officeDocument/2006/relationships/slideLayout" Target="/ppt/slideLayouts/slideLayout6.xml" Id="Rcbb4707a561f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88810f9c846b8"/>
    <p:sldLayoutId xmlns:r="http://schemas.openxmlformats.org/officeDocument/2006/relationships" id="2147483650" r:id="R85632f2b19cf49d4"/>
    <p:sldLayoutId xmlns:r="http://schemas.openxmlformats.org/officeDocument/2006/relationships" id="2147483651" r:id="Re24149b4ff344b4e"/>
    <p:sldLayoutId xmlns:r="http://schemas.openxmlformats.org/officeDocument/2006/relationships" id="2147483652" r:id="R9ceb3900b0604f22"/>
    <p:sldLayoutId xmlns:r="http://schemas.openxmlformats.org/officeDocument/2006/relationships" id="2147483653" r:id="R0650c660aa17441c"/>
    <p:sldLayoutId xmlns:r="http://schemas.openxmlformats.org/officeDocument/2006/relationships" id="2147483654" r:id="Rcbb4707a561f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415f392ee48bf" /><Relationship Type="http://schemas.openxmlformats.org/officeDocument/2006/relationships/notesSlide" Target="/ppt/notesSlides/notesSlide1.xml" Id="Ra6d0cc88bbcb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d4567cbe843ec" /><Relationship Type="http://schemas.openxmlformats.org/officeDocument/2006/relationships/image" Target="/ppt/media/image.png" Id="R12fa9c7cf2364b60" /><Relationship Type="http://schemas.openxmlformats.org/officeDocument/2006/relationships/notesSlide" Target="/ppt/notesSlides/notesSlide2.xml" Id="Rb4c06a73403a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ae85ea2074c11" /><Relationship Type="http://schemas.openxmlformats.org/officeDocument/2006/relationships/image" Target="/ppt/media/image2.png" Id="R48a8e4004c304007" /><Relationship Type="http://schemas.openxmlformats.org/officeDocument/2006/relationships/image" Target="/ppt/media/image3.png" Id="Re5eb52f5c95b4cae" /><Relationship Type="http://schemas.openxmlformats.org/officeDocument/2006/relationships/notesSlide" Target="/ppt/notesSlides/notesSlide3.xml" Id="R8fff999262a541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8285d91174f30" /><Relationship Type="http://schemas.openxmlformats.org/officeDocument/2006/relationships/image" Target="/ppt/media/image4.png" Id="R460e1a6ba0cb4622" /><Relationship Type="http://schemas.openxmlformats.org/officeDocument/2006/relationships/notesSlide" Target="/ppt/notesSlides/notesSlide4.xml" Id="Rf68957f5b411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7b19c5fea4d01" /><Relationship Type="http://schemas.openxmlformats.org/officeDocument/2006/relationships/image" Target="/ppt/media/image5.png" Id="R5311af47441f4e9e" /><Relationship Type="http://schemas.openxmlformats.org/officeDocument/2006/relationships/notesSlide" Target="/ppt/notesSlides/notesSlide5.xml" Id="R4094337d79eb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5f21f013145d6" /><Relationship Type="http://schemas.openxmlformats.org/officeDocument/2006/relationships/image" Target="/ppt/media/image6.png" Id="R3b9167c3602d46f5" /><Relationship Type="http://schemas.openxmlformats.org/officeDocument/2006/relationships/notesSlide" Target="/ppt/notesSlides/notesSlide6.xml" Id="R501cee5339414b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372779ab44449" /><Relationship Type="http://schemas.openxmlformats.org/officeDocument/2006/relationships/image" Target="/ppt/media/image7.png" Id="R00590fae99424e14" /><Relationship Type="http://schemas.openxmlformats.org/officeDocument/2006/relationships/notesSlide" Target="/ppt/notesSlides/notesSlide7.xml" Id="R431ebe2314cc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552d9fe7e4a84" /><Relationship Type="http://schemas.openxmlformats.org/officeDocument/2006/relationships/image" Target="/ppt/media/image8.png" Id="Rbe1af88441b84e2a" /><Relationship Type="http://schemas.openxmlformats.org/officeDocument/2006/relationships/notesSlide" Target="/ppt/notesSlides/notesSlide8.xml" Id="R6273d88ba85d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4fadca4d64658" /><Relationship Type="http://schemas.openxmlformats.org/officeDocument/2006/relationships/image" Target="/ppt/media/image9.png" Id="Ra03eb376bec5413c" /><Relationship Type="http://schemas.openxmlformats.org/officeDocument/2006/relationships/image" Target="/ppt/media/image10.png" Id="Rad5668aa67624628" /><Relationship Type="http://schemas.openxmlformats.org/officeDocument/2006/relationships/notesSlide" Target="/ppt/notesSlides/notesSlide9.xml" Id="Rfec8b11bed3d4b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ac24f908848db" /><Relationship Type="http://schemas.openxmlformats.org/officeDocument/2006/relationships/image" Target="/ppt/media/image11.png" Id="R0eee81822d554998" /><Relationship Type="http://schemas.openxmlformats.org/officeDocument/2006/relationships/notesSlide" Target="/ppt/notesSlides/notesSlide10.xml" Id="Rd6955c66730241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caf15e36d44ff" /><Relationship Type="http://schemas.openxmlformats.org/officeDocument/2006/relationships/image" Target="/ppt/media/image12.png" Id="R9294b8fa091f444b" /><Relationship Type="http://schemas.openxmlformats.org/officeDocument/2006/relationships/notesSlide" Target="/ppt/notesSlides/notesSlide11.xml" Id="Rbd637f2ae38c44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c798dd20746dc" /><Relationship Type="http://schemas.openxmlformats.org/officeDocument/2006/relationships/image" Target="/ppt/media/image13.png" Id="R33a26f09661a4e72" /><Relationship Type="http://schemas.openxmlformats.org/officeDocument/2006/relationships/notesSlide" Target="/ppt/notesSlides/notesSlide12.xml" Id="R3e45bf91c1884c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3B4DACFE-672A-42D2-9DC0-FE8E51E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PaperReader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F0CACA0-3856-4890-A62D-8BF5DD5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238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使用指引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0DDA6B6-129A-4FDB-9D45-DFC619C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1295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用內建範例練習 PDF 標記、研究便條與 AI 摘要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0FD8222-F816-48D5-ACAB-52EBEBA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15075"/>
            <a:ext cx="1295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https://educatres.github.io/PaperReader/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587D666-CCED-449C-8671-0B0D9F8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247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繁體中文桌面操作示範　2026.10</a:t>
            </a:r>
          </a:p>
        </p:txBody>
      </p:sp>
    </p:spTree>
    <p:extLst>
      <p:ext uri="{BB962C8B-B14F-4D97-AF65-F5344CB8AC3E}">
        <p14:creationId xmlns:p14="http://schemas.microsoft.com/office/powerpoint/2010/main" val="126822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21D5D307-075F-4466-805E-2DB291A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範例與閱讀介面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29BB4250-15FF-4DE9-BF09-D863EB8F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A1B35834-1D57-4B41-AAF6-4EC4F0AF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B8FFF62F-881B-4BB7-A03E-1C86C86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開啟範例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FF91544B-7FCB-45DA-AD6D-D931DA36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初次開啟網站時，點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「先試讀一篇範例」。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也可使用「開啟 PDF」。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0A4270B0-7426-4BF4-90C0-938BFB33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左側閱讀，右側記錄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924AE09C-A379-4358-A4C9-745AB848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左邊是 PDF，右邊是白板。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拖曳中間分隔線調整比例。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E727234B-56F8-4381-8121-45BBE8A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3. 調整閱讀空間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6E7ECD7C-2CAC-4CC6-8DE0-04091913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文件列右側可隱藏工具列，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再按「展開工具列」恢復。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C245B-D4B2-40F9-99B8-78B742958E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a9c7cf2364b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72100" y="18097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C009085F-3CBF-4547-8C2E-690A1EB7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6200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範例為原創三頁教學 PDF，供功能練習使用。</a:t>
            </a:r>
          </a:p>
        </p:txBody>
      </p:sp>
    </p:spTree>
    <p:extLst>
      <p:ext uri="{BB962C8B-B14F-4D97-AF65-F5344CB8AC3E}">
        <p14:creationId xmlns:p14="http://schemas.microsoft.com/office/powerpoint/2010/main" val="1625572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49B30DF3-30B5-4A40-83ED-4100C1A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選字標記與來源便條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9D0B80E7-11BF-4394-8694-51A1F06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6CE10BB4-52DE-4588-A2C2-F7DFA11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05F3DE8F-EA63-4A74-9FE7-43FFB79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選「螢光筆」與顏色，在同一頁拖曳選字，放開後會自動建立便條。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214DEAA8-4217-4CB0-9BE6-9D2EE28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PDF 選字段落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1460573D-1F55-4E44-A22F-D64DB49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自動建立的來源便條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CEDED-65D5-4E42-83CF-0A4AC2051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8e4004c304007"/>
          <a:srcRect xmlns:a="http://schemas.openxmlformats.org/drawingml/2006/main" l="6875" t="31737" r="72500" b="41916"/>
          <a:stretch xmlns:a="http://schemas.openxmlformats.org/drawingml/2006/main"/>
        </p:blipFill>
        <p:spPr>
          <a:xfrm xmlns:a="http://schemas.openxmlformats.org/drawingml/2006/main">
            <a:off x="1042988" y="2809875"/>
            <a:ext cx="6257925" cy="41719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8C757-017E-4E82-8CCB-CEC8177F2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52f5c95b4cae"/>
          <a:srcRect xmlns:a="http://schemas.openxmlformats.org/drawingml/2006/main" l="68125" t="38323" r="13125" b="28743"/>
          <a:stretch xmlns:a="http://schemas.openxmlformats.org/drawingml/2006/main"/>
        </p:blipFill>
        <p:spPr>
          <a:xfrm xmlns:a="http://schemas.openxmlformats.org/drawingml/2006/main">
            <a:off x="8875568" y="2752725"/>
            <a:ext cx="5299364" cy="4857750"/>
          </a:xfrm>
          <a:prstGeom xmlns:a="http://schemas.openxmlformats.org/drawingml/2006/main" prst="rect">
            <a:avLst/>
          </a:prstGeom>
        </p:spPr>
      </p:pic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0B320C1A-2145-4B03-B649-EEB482D8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9925"/>
            <a:ext cx="638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跨頁請分開標記。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選取完整語意，保留限制與前提。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8BF47240-2BC1-4523-BE2C-69215C0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67625"/>
            <a:ext cx="1352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點標記可找便條；便條右下角箭頭可回原文。</a:t>
            </a:r>
          </a:p>
        </p:txBody>
      </p:sp>
    </p:spTree>
    <p:extLst>
      <p:ext uri="{BB962C8B-B14F-4D97-AF65-F5344CB8AC3E}">
        <p14:creationId xmlns:p14="http://schemas.microsoft.com/office/powerpoint/2010/main" val="978032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55458904-501D-409C-A2A5-3F581D6A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PDF 截圖便條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39B3C423-3600-4AA1-8121-C9502B7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A98A4E61-5075-4800-A65F-C1AE441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81D4D548-D46B-4878-ADBA-74E29B1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框選單頁內容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89EB85C2-0D00-47F9-9A8E-A52CB7FD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PDF 工具列選「截圖模式」，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拖曳框出需要的範圍。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按 Esc 可取消或結束。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09C398DC-6139-469E-8160-FF2A78A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自行補充文字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D4E3FF56-AE8F-4E63-B8B6-9AFD38D7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新便條預設沒有文字。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點「輸入或貼上文字」，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或用鉛筆編輯內容。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E81E8A65-22D0-42D5-9D62-3EE20B3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3. 圖片與 AI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C12807B3-A65F-4E66-A145-F181F65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點圖片可放大查看。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AI 只讀便條文字與筆記，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圖片不作分析。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EB5F4-CD87-49A6-93A3-0B92C309B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e1a6ba0cb4622"/>
          <a:srcRect xmlns:a="http://schemas.openxmlformats.org/drawingml/2006/main" l="63187" t="35329" r="3846" b="23353"/>
          <a:stretch xmlns:a="http://schemas.openxmlformats.org/drawingml/2006/main"/>
        </p:blipFill>
        <p:spPr>
          <a:xfrm xmlns:a="http://schemas.openxmlformats.org/drawingml/2006/main">
            <a:off x="8057322" y="1666875"/>
            <a:ext cx="4306957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5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A264B6E7-E9D2-498F-AD5A-6EA211D9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便條連線與關係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C674C93E-75E8-4D7B-85A0-EC37D32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6E9F4D77-BDA3-4DDB-9A37-95AF6B0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E4D43184-3456-40BF-866F-6C40AE1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建立連線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5F808033-1B82-4DDA-8B11-269BC03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從一張便條四邊的連接點，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拖到另一張便條。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雙擊連線可再編輯。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3512C2E1-3131-4588-9060-6289081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設定關係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ED2EA87D-7201-461F-9ECA-ECFD626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選擇關係類型，補上說明。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需要時勾選方向箭頭，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再按「儲存關係」。</a:t>
            </a:r>
          </a:p>
        </p:txBody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156D482C-A4D8-46D1-B24F-DAD8CC8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這裡示範「待驗證」：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用原文檢查摘要是否遺漏限制。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人工連線保留你的研究判斷。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C7C4B-8B78-4331-8D35-049B0C952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1af47441f4e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42528" y="1905000"/>
            <a:ext cx="7593669" cy="5743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93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1">
            <a:extLst xmlns:a="http://schemas.openxmlformats.org/drawingml/2006/main">
              <a:ext uri="{FF2B5EF4-FFF2-40B4-BE49-F238E27FC236}">
                <a16:creationId xmlns:a16="http://schemas.microsoft.com/office/drawing/2014/main" id="{4D30FE3E-F5C9-4742-97D7-6696FA2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AI 設定與 API Key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59A69C86-FD31-4C11-96A7-F0ED3571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8E533C18-BC33-4CB3-9E59-4808B030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169618E8-A0E0-458E-8F1F-E9320F1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連接自己的 AI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2E8423F5-6F54-43FE-B4B7-C480BB3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點「連接你的 AI」，選供應商，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貼上金鑰並選模型。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「測試連線」會使用少量額度。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548A4069-95E6-4D3F-99CD-894C79F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辨識暫存金鑰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93DAF56A-77D8-4C87-8D34-191C5BE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已設定時顯示 ***。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「清除本機 API Key」會清除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目前供應商的分頁金鑰。</a:t>
            </a:r>
          </a:p>
        </p:txBody>
      </p:sp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5B04BEAE-BD7D-4118-B794-64FD71F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57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Gemini 取得清單後，若包含</a:t>
            </a:r>
          </a:p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gemini-flash-lite-latest 就預選它；</a:t>
            </a:r>
          </a:p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沒有時，需由你選擇模型。</a:t>
            </a:r>
          </a:p>
        </p:txBody>
      </p:sp>
      <p:sp>
        <p:nvSpPr>
          <p:cNvPr id="9" name="text-49">
            <a:extLst xmlns:a="http://schemas.openxmlformats.org/drawingml/2006/main">
              <a:ext uri="{FF2B5EF4-FFF2-40B4-BE49-F238E27FC236}">
                <a16:creationId xmlns:a16="http://schemas.microsoft.com/office/drawing/2014/main" id="{E52C2133-FC65-43D0-8819-E91003A2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重新整理或關閉分頁後，需重填金鑰。</a:t>
            </a:r>
          </a:p>
        </p:txBody>
      </p:sp>
      <p:sp>
        <p:nvSpPr>
          <p:cNvPr id="10" name="text-50">
            <a:extLst xmlns:a="http://schemas.openxmlformats.org/drawingml/2006/main">
              <a:ext uri="{FF2B5EF4-FFF2-40B4-BE49-F238E27FC236}">
                <a16:creationId xmlns:a16="http://schemas.microsoft.com/office/drawing/2014/main" id="{EBD539AE-A225-4893-BA64-B9E5D71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0572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OpenAI／CGU 可選 gpt-6-luna、gpt-5.6-luna 或自訂模型；推理預設為中。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20D61-49A8-4B37-8683-57F550221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167c3602d46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91490" y="1666875"/>
            <a:ext cx="6305245" cy="5381625"/>
          </a:xfrm>
          <a:prstGeom xmlns:a="http://schemas.openxmlformats.org/drawingml/2006/main" prst="rect">
            <a:avLst/>
          </a:prstGeom>
        </p:spPr>
      </p:pic>
      <p:sp>
        <p:nvSpPr>
          <p:cNvPr id="12" name="text-51">
            <a:extLst xmlns:a="http://schemas.openxmlformats.org/drawingml/2006/main">
              <a:ext uri="{FF2B5EF4-FFF2-40B4-BE49-F238E27FC236}">
                <a16:creationId xmlns:a16="http://schemas.microsoft.com/office/drawing/2014/main" id="{7312CB41-CDCD-464D-A80B-489B1BDB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029450"/>
            <a:ext cx="823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模型清單為教學示例，實際可用模型依帳戶而定。</a:t>
            </a:r>
          </a:p>
        </p:txBody>
      </p:sp>
    </p:spTree>
    <p:extLst>
      <p:ext uri="{BB962C8B-B14F-4D97-AF65-F5344CB8AC3E}">
        <p14:creationId xmlns:p14="http://schemas.microsoft.com/office/powerpoint/2010/main" val="459444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2">
            <a:extLst xmlns:a="http://schemas.openxmlformats.org/drawingml/2006/main">
              <a:ext uri="{FF2B5EF4-FFF2-40B4-BE49-F238E27FC236}">
                <a16:creationId xmlns:a16="http://schemas.microsoft.com/office/drawing/2014/main" id="{8B4333DF-77B2-4ED3-9940-ED1ADC6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CGU 本機連線助手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0AFDD9FD-F6D3-4D9F-9AFB-AA7D8FDC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1049A97E-F1A1-44AD-8F63-DB07E76E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text-55">
            <a:extLst xmlns:a="http://schemas.openxmlformats.org/drawingml/2006/main">
              <a:ext uri="{FF2B5EF4-FFF2-40B4-BE49-F238E27FC236}">
                <a16:creationId xmlns:a16="http://schemas.microsoft.com/office/drawing/2014/main" id="{022A039A-9B45-4FFA-BAF6-A1EEBDE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381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CGU 目前需透過自己的電腦轉送連線。</a:t>
            </a:r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C7D1B061-432A-47EF-9028-4D0DBB75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下載並啟動助手</a:t>
            </a:r>
          </a:p>
        </p:txBody>
      </p:sp>
      <p:sp>
        <p:nvSpPr>
          <p:cNvPr id="6" name="text-57">
            <a:extLst xmlns:a="http://schemas.openxmlformats.org/drawingml/2006/main">
              <a:ext uri="{FF2B5EF4-FFF2-40B4-BE49-F238E27FC236}">
                <a16:creationId xmlns:a16="http://schemas.microsoft.com/office/drawing/2014/main" id="{F5684AAF-DA4F-4580-A45F-BB7B8AE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安裝 Node.js 24 或更新版，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在 CGU 設定下載本機助手。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在下載資料夾執行下方指令。</a:t>
            </a:r>
          </a:p>
        </p:txBody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8E6AA1BD-D144-4EF9-80C1-362AEA0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配對與驗證</a:t>
            </a:r>
          </a:p>
        </p:txBody>
      </p:sp>
      <p:sp>
        <p:nvSpPr>
          <p:cNvPr id="8" name="text-59">
            <a:extLst xmlns:a="http://schemas.openxmlformats.org/drawingml/2006/main">
              <a:ext uri="{FF2B5EF4-FFF2-40B4-BE49-F238E27FC236}">
                <a16:creationId xmlns:a16="http://schemas.microsoft.com/office/drawing/2014/main" id="{F8323A4C-5A37-48AD-86C7-692E5D6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保持終端機開啟，貼上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Pairing code 並連接助手。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再填 CGU 金鑰並驗證。</a:t>
            </a:r>
          </a:p>
        </p:txBody>
      </p:sp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2CA91FA5-8339-4202-9232-5C1DC29E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啟動指令：node PaperReader-CGU-Bridge.mjs</a:t>
            </a:r>
          </a:p>
        </p:txBody>
      </p:sp>
      <p:sp>
        <p:nvSpPr>
          <p:cNvPr id="10" name="text-61">
            <a:extLst xmlns:a="http://schemas.openxmlformats.org/drawingml/2006/main">
              <a:ext uri="{FF2B5EF4-FFF2-40B4-BE49-F238E27FC236}">
                <a16:creationId xmlns:a16="http://schemas.microsoft.com/office/drawing/2014/main" id="{42194DAB-6BFB-41C8-9AFE-A5F30528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00950"/>
            <a:ext cx="1381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若瀏覽器詢問本機網路權限，請允許。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B0A4D-AD1F-4C14-9B78-5A8885A5B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0fae99424e1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42717" y="2028825"/>
            <a:ext cx="5640917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60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2">
            <a:extLst xmlns:a="http://schemas.openxmlformats.org/drawingml/2006/main">
              <a:ext uri="{FF2B5EF4-FFF2-40B4-BE49-F238E27FC236}">
                <a16:creationId xmlns:a16="http://schemas.microsoft.com/office/drawing/2014/main" id="{09842BB7-676C-43E6-B380-0D17ECD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便條翻譯與摘要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6310CA1A-453E-4FD4-B2AB-B79D2F3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D64B1A99-83F5-49D8-8E5A-2BDB836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0B450DC8-37F7-47EC-AC4A-A0557CA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便條下方的 AI 按鈕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27A5F85D-A8D8-4545-972B-AF4EFAD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連接 AI 後，點「翻譯」或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「摘要」，結果會出現在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對應的分頁。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A148E695-6277-4A33-9885-C3F5FCA2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保留自己的解讀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3C12056B-36AB-4B3C-B9BC-8A8FE853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可編輯翻譯或摘要。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用「筆記」記下疑問，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再回原文核對。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E9A09745-B776-43C1-9D30-1EAAF4D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648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「全文摘要」是另一項功能，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會先確認傳送目前 PDF 的分塊文字。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55C16-9F82-49E7-91E6-27D58C5CA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af88441b84e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99188" y="1971675"/>
            <a:ext cx="5880350" cy="5286375"/>
          </a:xfrm>
          <a:prstGeom xmlns:a="http://schemas.openxmlformats.org/drawingml/2006/main" prst="rect">
            <a:avLst/>
          </a:prstGeom>
        </p:spPr>
      </p:pic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4636E8C4-DC39-4146-BD33-87D24BE3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77125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AI 回應為教學示例，使用時請回查原文。</a:t>
            </a:r>
          </a:p>
        </p:txBody>
      </p:sp>
    </p:spTree>
    <p:extLst>
      <p:ext uri="{BB962C8B-B14F-4D97-AF65-F5344CB8AC3E}">
        <p14:creationId xmlns:p14="http://schemas.microsoft.com/office/powerpoint/2010/main" val="30972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D546B2A3-25E7-473B-A333-582F0E47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關聯摘要的確認範圍</a:t>
            </a:r>
          </a:p>
        </p:txBody>
      </p:sp>
      <p:sp>
        <p:nvSpPr>
          <p:cNvPr id="2" name="text-72">
            <a:extLst xmlns:a="http://schemas.openxmlformats.org/drawingml/2006/main">
              <a:ext uri="{FF2B5EF4-FFF2-40B4-BE49-F238E27FC236}">
                <a16:creationId xmlns:a16="http://schemas.microsoft.com/office/drawing/2014/main" id="{A4710655-45E9-4F18-BE63-DDE995F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73">
            <a:extLst xmlns:a="http://schemas.openxmlformats.org/drawingml/2006/main">
              <a:ext uri="{FF2B5EF4-FFF2-40B4-BE49-F238E27FC236}">
                <a16:creationId xmlns:a16="http://schemas.microsoft.com/office/drawing/2014/main" id="{647E1AC7-74B6-402B-8377-DBA27B6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747398F6-942B-4A3D-B159-9211C80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選取相連的便條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D112F5E5-5AE6-412E-9774-1D131F26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至少兩張便條相連後，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選取其中一張，點白板上方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「關聯摘要」。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A4D70C32-416C-466D-A3D2-C83BDDCE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檢查預覽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5E1C0775-0D50-4DAE-A1C4-960E527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納入直接與間接相連的便條，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排除隱藏項目。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連線類型、說明與方向也會傳送。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F8719B81-5F2E-4B27-9CCE-A0ADF4A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591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確認後按「同意傳送並整合」。</a:t>
            </a:r>
          </a:p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截圖只使用你填入的文字，</a:t>
            </a:r>
          </a:p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圖片不會傳給 AI。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312F9-9CBE-4FD8-8804-D297D9982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eb376bec5413c"/>
          <a:srcRect xmlns:a="http://schemas.openxmlformats.org/drawingml/2006/main" l="2273" t="15013" r="2273" b="36684"/>
          <a:stretch xmlns:a="http://schemas.openxmlformats.org/drawingml/2006/main"/>
        </p:blipFill>
        <p:spPr>
          <a:xfrm xmlns:a="http://schemas.openxmlformats.org/drawingml/2006/main">
            <a:off x="5762625" y="1941588"/>
            <a:ext cx="8763000" cy="5146524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0862B-C472-45B9-B721-7D416138EE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668aa67624628"/>
          <a:srcRect xmlns:a="http://schemas.openxmlformats.org/drawingml/2006/main" l="2273" t="91057" r="2273" b="1762"/>
          <a:stretch xmlns:a="http://schemas.openxmlformats.org/drawingml/2006/main"/>
        </p:blipFill>
        <p:spPr>
          <a:xfrm xmlns:a="http://schemas.openxmlformats.org/drawingml/2006/main">
            <a:off x="6325466" y="7200900"/>
            <a:ext cx="7637318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47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9">
            <a:extLst xmlns:a="http://schemas.openxmlformats.org/drawingml/2006/main">
              <a:ext uri="{FF2B5EF4-FFF2-40B4-BE49-F238E27FC236}">
                <a16:creationId xmlns:a16="http://schemas.microsoft.com/office/drawing/2014/main" id="{ABBF00E0-92C4-4F8E-B7C3-D8278FC9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紫色整合便條</a:t>
            </a:r>
          </a:p>
        </p:txBody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8A2EE3A5-351C-42AA-A09E-A541CB73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40A5D161-930C-416B-A12F-25C16623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E1C9CA45-687C-4F2F-B29B-5CDEDBF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閱讀整合結果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BF695AAE-2B82-442F-8DDB-BDF5BCD5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摘要會成為一張紫色便條，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分析便條內容與連線關係。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結果仍需自行核對。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B304DFFC-3A8C-48F7-980F-DCDF80B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回查來源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E30B9A2F-9299-4C3B-A677-B6D229D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 N1、N2 可找回來源便條。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「來源快照」保留生成時的內容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與連線，方便對照。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8B0A0B71-9103-4700-B9E1-0D597D87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912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來源修改後不會自動更新摘要。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可按「再次整合」產生新的結果。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68C1-1A04-41B1-A9A4-C9DBDA93A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e81822d5549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83686" y="1676400"/>
            <a:ext cx="5168478" cy="5981700"/>
          </a:xfrm>
          <a:prstGeom xmlns:a="http://schemas.openxmlformats.org/drawingml/2006/main" prst="rect">
            <a:avLst/>
          </a:prstGeom>
        </p:spPr>
      </p:pic>
      <p:sp>
        <p:nvSpPr>
          <p:cNvPr id="10" name="text-87">
            <a:extLst xmlns:a="http://schemas.openxmlformats.org/drawingml/2006/main">
              <a:ext uri="{FF2B5EF4-FFF2-40B4-BE49-F238E27FC236}">
                <a16:creationId xmlns:a16="http://schemas.microsoft.com/office/drawing/2014/main" id="{B2007107-EB4B-42A9-9F3C-BB7B8CF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667625"/>
            <a:ext cx="672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AI 回應為教學示例。</a:t>
            </a:r>
          </a:p>
        </p:txBody>
      </p:sp>
    </p:spTree>
    <p:extLst>
      <p:ext uri="{BB962C8B-B14F-4D97-AF65-F5344CB8AC3E}">
        <p14:creationId xmlns:p14="http://schemas.microsoft.com/office/powerpoint/2010/main" val="1283261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A1AABF87-0490-4566-9DC9-EAD26EC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匯出與備份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638A3FFD-040B-4228-A0D1-92CFA98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90">
            <a:extLst xmlns:a="http://schemas.openxmlformats.org/drawingml/2006/main">
              <a:ext uri="{FF2B5EF4-FFF2-40B4-BE49-F238E27FC236}">
                <a16:creationId xmlns:a16="http://schemas.microsoft.com/office/drawing/2014/main" id="{314186CB-D9F3-452A-B217-4F7613AE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B63724E2-E303-49FA-8112-8D177A6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完整備份</a:t>
            </a:r>
          </a:p>
        </p:txBody>
      </p:sp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60E43043-94DD-420B-A101-E3F0F41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點「匯出研究」，選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「完整研究封裝」。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下載的副檔名為 .researchpack。</a:t>
            </a:r>
          </a:p>
        </p:txBody>
      </p:sp>
      <p:sp>
        <p:nvSpPr>
          <p:cNvPr id="6" name="text-93">
            <a:extLst xmlns:a="http://schemas.openxmlformats.org/drawingml/2006/main">
              <a:ext uri="{FF2B5EF4-FFF2-40B4-BE49-F238E27FC236}">
                <a16:creationId xmlns:a16="http://schemas.microsoft.com/office/drawing/2014/main" id="{BDE1B361-3DEB-4C1F-90BE-872C740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包含 PDF 與截圖</a:t>
            </a:r>
          </a:p>
        </p:txBody>
      </p:sp>
      <p:sp>
        <p:nvSpPr>
          <p:cNvPr id="7" name="text-94">
            <a:extLst xmlns:a="http://schemas.openxmlformats.org/drawingml/2006/main">
              <a:ext uri="{FF2B5EF4-FFF2-40B4-BE49-F238E27FC236}">
                <a16:creationId xmlns:a16="http://schemas.microsoft.com/office/drawing/2014/main" id="{C9DF57F4-EA15-4BE3-B20B-7F895F8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封裝保存 PDF、圖片、標記、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便條與連線，可換電腦還原。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匯出檔不包含 API Key。</a:t>
            </a:r>
          </a:p>
        </p:txBody>
      </p:sp>
      <p:sp>
        <p:nvSpPr>
          <p:cNvPr id="8" name="text-95">
            <a:extLst xmlns:a="http://schemas.openxmlformats.org/drawingml/2006/main">
              <a:ext uri="{FF2B5EF4-FFF2-40B4-BE49-F238E27FC236}">
                <a16:creationId xmlns:a16="http://schemas.microsoft.com/office/drawing/2014/main" id="{64086469-61AC-4E69-A9AD-114B351A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Markdown 適合閱讀與寫作。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JSON 保留註記資料與附件資訊，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完整圖片請使用研究封裝備份。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24E14-904B-4353-8A23-5F82DCFD1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4b8fa091f44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32924" y="1685925"/>
            <a:ext cx="6746227" cy="601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7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DA1E3972-1FB5-4A23-B10D-468A022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還原與資料保存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70FD09CD-C183-4620-A616-488431B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3B4217CE-D272-4ACB-9CCA-E9476EB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61BE2223-DD91-4615-866F-447CB7C6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還原研究封裝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A2B8DC73-F167-4C4D-A253-ED6DE189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開啟左上「文獻庫」，點下方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「還原研究封裝 / JSON」，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選擇先前下載的 .researchpack。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50511506-1A74-4006-A4AE-18EBE765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取代前先備份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92293486-F03F-440A-A9F1-7AB1BF1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還原可能取代目前工作區。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請先備份目前研究，再依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確認視窗繼續。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B875BFBE-BAD1-48D9-AFF9-424E6DC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研究資料保存在目前瀏覽器。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清除網站資料、換瀏覽器或換網址，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都可能需要用封裝還原。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DCE3D-B800-4E56-93BC-005DA1E89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26f09661a4e72"/>
          <a:srcRect xmlns:a="http://schemas.openxmlformats.org/drawingml/2006/main" l="0" t="80240" r="0" b="0"/>
          <a:stretch xmlns:a="http://schemas.openxmlformats.org/drawingml/2006/main"/>
        </p:blipFill>
        <p:spPr>
          <a:xfrm xmlns:a="http://schemas.openxmlformats.org/drawingml/2006/main">
            <a:off x="7047634" y="2143125"/>
            <a:ext cx="6383482" cy="4619625"/>
          </a:xfrm>
          <a:prstGeom xmlns:a="http://schemas.openxmlformats.org/drawingml/2006/main" prst="rect">
            <a:avLst/>
          </a:prstGeom>
        </p:spPr>
      </p:pic>
      <p:sp>
        <p:nvSpPr>
          <p:cNvPr id="10" name="text-104">
            <a:extLst xmlns:a="http://schemas.openxmlformats.org/drawingml/2006/main">
              <a:ext uri="{FF2B5EF4-FFF2-40B4-BE49-F238E27FC236}">
                <a16:creationId xmlns:a16="http://schemas.microsoft.com/office/drawing/2014/main" id="{1C05AD5E-5B3E-45F4-9AC9-43B5DB7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70485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文獻庫下方操作區</a:t>
            </a:r>
          </a:p>
        </p:txBody>
      </p:sp>
      <p:sp>
        <p:nvSpPr>
          <p:cNvPr id="11" name="text-105">
            <a:extLst xmlns:a="http://schemas.openxmlformats.org/drawingml/2006/main">
              <a:ext uri="{FF2B5EF4-FFF2-40B4-BE49-F238E27FC236}">
                <a16:creationId xmlns:a16="http://schemas.microsoft.com/office/drawing/2014/main" id="{B0429C2C-681A-45C0-A81C-72CFBA2A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1381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定期下載備份。API Key 目前只暫存在分頁記憶體。</a:t>
            </a:r>
          </a:p>
        </p:txBody>
      </p:sp>
    </p:spTree>
    <p:extLst>
      <p:ext uri="{BB962C8B-B14F-4D97-AF65-F5344CB8AC3E}">
        <p14:creationId xmlns:p14="http://schemas.microsoft.com/office/powerpoint/2010/main" val="1186299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2026-10-18T16:48:51.9230000Z</dcterms:created>
  <dcterms:modified xsi:type="dcterms:W3CDTF">2026-10-18T16:48:51.9230000Z</dcterms:modified>
</coreProperties>
</file>